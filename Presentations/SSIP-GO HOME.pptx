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14"/>
  </p:notesMasterIdLst>
  <p:sldIdLst>
    <p:sldId id="256" r:id="rId2"/>
    <p:sldId id="261" r:id="rId3"/>
    <p:sldId id="257" r:id="rId4"/>
    <p:sldId id="259" r:id="rId5"/>
    <p:sldId id="262" r:id="rId6"/>
    <p:sldId id="268" r:id="rId7"/>
    <p:sldId id="266" r:id="rId8"/>
    <p:sldId id="267" r:id="rId9"/>
    <p:sldId id="260" r:id="rId10"/>
    <p:sldId id="263" r:id="rId11"/>
    <p:sldId id="264" r:id="rId12"/>
    <p:sldId id="265" r:id="rId1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635"/>
    <a:srgbClr val="9EFF29"/>
    <a:srgbClr val="C80064"/>
    <a:srgbClr val="C33A1F"/>
    <a:srgbClr val="0000CC"/>
    <a:srgbClr val="FF2549"/>
    <a:srgbClr val="007033"/>
    <a:srgbClr val="D6370C"/>
    <a:srgbClr val="1D3A00"/>
    <a:srgbClr val="FF85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265" autoAdjust="0"/>
    <p:restoredTop sz="94660"/>
  </p:normalViewPr>
  <p:slideViewPr>
    <p:cSldViewPr snapToGrid="0">
      <p:cViewPr varScale="1">
        <p:scale>
          <a:sx n="108" d="100"/>
          <a:sy n="108" d="100"/>
        </p:scale>
        <p:origin x="149" y="62"/>
      </p:cViewPr>
      <p:guideLst>
        <p:guide orient="horz" pos="1620"/>
        <p:guide pos="288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D18E60-4300-4729-A0D7-6AB984C3922D}" type="datetimeFigureOut">
              <a:rPr lang="en-US" smtClean="0"/>
              <a:t>9/27/2021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33E96-F078-4B3D-A8F4-F1AF21EBC357}" type="slidenum">
              <a:rPr lang="en-US" smtClean="0"/>
              <a:t>‹#›</a:t>
            </a:fld>
            <a:endParaRPr lang="en-US"/>
          </a:p>
        </p:txBody>
      </p:sp>
    </p:spTree>
    <p:extLst>
      <p:ext uri="{BB962C8B-B14F-4D97-AF65-F5344CB8AC3E}">
        <p14:creationId xmlns:p14="http://schemas.microsoft.com/office/powerpoint/2010/main" val="2844300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F533E96-F078-4B3D-A8F4-F1AF21EBC357}" type="slidenum">
              <a:rPr lang="en-US" smtClean="0"/>
              <a:t>2</a:t>
            </a:fld>
            <a:endParaRPr lang="en-US"/>
          </a:p>
        </p:txBody>
      </p:sp>
    </p:spTree>
    <p:extLst>
      <p:ext uri="{BB962C8B-B14F-4D97-AF65-F5344CB8AC3E}">
        <p14:creationId xmlns:p14="http://schemas.microsoft.com/office/powerpoint/2010/main" val="2818019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350B06-B074-48FC-8CFD-53D2CD8FB95F}" type="slidenum">
              <a:rPr lang="en-US" smtClean="0"/>
              <a:t>9</a:t>
            </a:fld>
            <a:endParaRPr lang="en-US"/>
          </a:p>
        </p:txBody>
      </p:sp>
    </p:spTree>
    <p:extLst>
      <p:ext uri="{BB962C8B-B14F-4D97-AF65-F5344CB8AC3E}">
        <p14:creationId xmlns:p14="http://schemas.microsoft.com/office/powerpoint/2010/main" val="12845968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08819" y="2337620"/>
            <a:ext cx="8229600" cy="1688688"/>
          </a:xfrm>
          <a:noFill/>
          <a:effectLst>
            <a:outerShdw blurRad="50800" dist="38100" dir="2700000" algn="tl" rotWithShape="0">
              <a:prstClr val="black">
                <a:alpha val="40000"/>
              </a:prstClr>
            </a:outerShdw>
          </a:effectLst>
        </p:spPr>
        <p:txBody>
          <a:bodyPr>
            <a:normAutofit/>
          </a:bodyPr>
          <a:lstStyle>
            <a:lvl1pPr algn="r">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479322" y="4070552"/>
            <a:ext cx="8229600" cy="678426"/>
          </a:xfrm>
        </p:spPr>
        <p:txBody>
          <a:bodyPr>
            <a:normAutofit/>
          </a:bodyPr>
          <a:lstStyle>
            <a:lvl1pPr marL="0" indent="0" algn="r">
              <a:buNone/>
              <a:defRPr sz="2800" b="0" i="0">
                <a:solidFill>
                  <a:srgbClr val="FFFF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3074F12-AA26-4AC8-9962-C36BB8F32554}" type="datetimeFigureOut">
              <a:rPr lang="en-US" smtClean="0"/>
              <a:pPr/>
              <a:t>9/27/2021</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71947" y="489808"/>
            <a:ext cx="8259098" cy="763526"/>
          </a:xfrm>
        </p:spPr>
        <p:txBody>
          <a:bodyPr>
            <a:normAutofit/>
          </a:bodyPr>
          <a:lstStyle>
            <a:lvl1pPr algn="r">
              <a:defRPr sz="3600" baseline="0">
                <a:solidFill>
                  <a:schemeClr val="bg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63714" y="1519084"/>
            <a:ext cx="8246070" cy="3259392"/>
          </a:xfrm>
        </p:spPr>
        <p:txBody>
          <a:bodyPr/>
          <a:lstStyle>
            <a:lvl1pPr algn="l">
              <a:defRPr sz="2800">
                <a:solidFill>
                  <a:schemeClr val="tx1"/>
                </a:solidFill>
              </a:defRPr>
            </a:lvl1pPr>
            <a:lvl2pPr algn="l">
              <a:defRPr>
                <a:solidFill>
                  <a:schemeClr val="tx1"/>
                </a:solidFill>
              </a:defRPr>
            </a:lvl2pPr>
            <a:lvl3pPr algn="l">
              <a:defRPr>
                <a:solidFill>
                  <a:schemeClr val="tx1"/>
                </a:solidFill>
              </a:defRPr>
            </a:lvl3pPr>
            <a:lvl4pPr algn="l">
              <a:defRPr>
                <a:solidFill>
                  <a:schemeClr val="tx1"/>
                </a:solidFill>
              </a:defRPr>
            </a:lvl4pPr>
            <a:lvl5pPr algn="l">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9/27/2021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92106" y="406537"/>
            <a:ext cx="6283782" cy="725349"/>
          </a:xfrm>
        </p:spPr>
        <p:txBody>
          <a:bodyPr>
            <a:normAutofit/>
          </a:bodyPr>
          <a:lstStyle>
            <a:lvl1pPr algn="l">
              <a:defRPr sz="3600">
                <a:solidFill>
                  <a:srgbClr val="FFFF0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2389238" y="1268361"/>
            <a:ext cx="6304935" cy="3420136"/>
          </a:xfrm>
        </p:spPr>
        <p:txBody>
          <a:bodyPr/>
          <a:lstStyle>
            <a:lvl1pPr>
              <a:defRPr sz="2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9/27/2021</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9/27/2021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pPr/>
              <a:t>9/27/2021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5318" y="470751"/>
            <a:ext cx="8093365" cy="763525"/>
          </a:xfrm>
        </p:spPr>
        <p:txBody>
          <a:bodyPr>
            <a:normAutofit/>
          </a:bodyPr>
          <a:lstStyle>
            <a:lvl1pPr algn="r">
              <a:defRPr sz="3600" baseline="0">
                <a:solidFill>
                  <a:schemeClr val="bg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522131" y="1500663"/>
            <a:ext cx="4040188" cy="479822"/>
          </a:xfrm>
        </p:spPr>
        <p:txBody>
          <a:bodyPr anchor="b"/>
          <a:lstStyle>
            <a:lvl1pPr marL="0" indent="0" algn="ctr">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22131" y="1973060"/>
            <a:ext cx="4040188" cy="2276294"/>
          </a:xfrm>
        </p:spPr>
        <p:txBody>
          <a:bodyPr/>
          <a:lstStyle>
            <a:lvl1pPr algn="ctr">
              <a:defRPr sz="2400">
                <a:solidFill>
                  <a:schemeClr val="tx1"/>
                </a:solidFill>
              </a:defRPr>
            </a:lvl1pPr>
            <a:lvl2pPr algn="ctr">
              <a:defRPr sz="2000">
                <a:solidFill>
                  <a:schemeClr val="tx1"/>
                </a:solidFill>
              </a:defRPr>
            </a:lvl2pPr>
            <a:lvl3pPr algn="ctr">
              <a:defRPr sz="1800">
                <a:solidFill>
                  <a:schemeClr val="tx1"/>
                </a:solidFill>
              </a:defRPr>
            </a:lvl3pPr>
            <a:lvl4pPr algn="ctr">
              <a:defRPr sz="1600">
                <a:solidFill>
                  <a:schemeClr val="tx1"/>
                </a:solidFill>
              </a:defRPr>
            </a:lvl4pPr>
            <a:lvl5pPr algn="ctr">
              <a:defRPr sz="1600">
                <a:solidFill>
                  <a:schemeClr val="tx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557252" y="1500663"/>
            <a:ext cx="4041775" cy="479822"/>
          </a:xfrm>
        </p:spPr>
        <p:txBody>
          <a:bodyPr anchor="b"/>
          <a:lstStyle>
            <a:lvl1pPr marL="0" indent="0" algn="ctr">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57252" y="1973060"/>
            <a:ext cx="4041775" cy="2276294"/>
          </a:xfrm>
        </p:spPr>
        <p:txBody>
          <a:bodyPr/>
          <a:lstStyle>
            <a:lvl1pPr algn="ctr">
              <a:defRPr sz="2400">
                <a:solidFill>
                  <a:schemeClr val="tx1"/>
                </a:solidFill>
              </a:defRPr>
            </a:lvl1pPr>
            <a:lvl2pPr algn="ctr">
              <a:defRPr sz="2000">
                <a:solidFill>
                  <a:schemeClr val="tx1"/>
                </a:solidFill>
              </a:defRPr>
            </a:lvl2pPr>
            <a:lvl3pPr algn="ctr">
              <a:defRPr sz="1800">
                <a:solidFill>
                  <a:schemeClr val="tx1"/>
                </a:solidFill>
              </a:defRPr>
            </a:lvl3pPr>
            <a:lvl4pPr algn="ctr">
              <a:defRPr sz="1600">
                <a:solidFill>
                  <a:schemeClr val="tx1"/>
                </a:solidFill>
              </a:defRPr>
            </a:lvl4pPr>
            <a:lvl5pPr algn="ctr">
              <a:defRPr sz="1600">
                <a:solidFill>
                  <a:schemeClr val="tx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pPr/>
              <a:t>9/27/2021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pPr/>
              <a:t>9/27/2021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9/27/2021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9/27/2021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9/27/2021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9/27/2021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9/27/2021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7" name="Picture 6" descr="E:\websites\free-power-point-templates\2012\logos.png">
            <a:extLst>
              <a:ext uri="{FF2B5EF4-FFF2-40B4-BE49-F238E27FC236}">
                <a16:creationId xmlns:a16="http://schemas.microsoft.com/office/drawing/2014/main" id="{08B89D22-1D6E-450B-881F-4D2A4C527F7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808475"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9/27/2021</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
        <p:nvSpPr>
          <p:cNvPr id="7" name="TextBox 6">
            <a:extLst>
              <a:ext uri="{FF2B5EF4-FFF2-40B4-BE49-F238E27FC236}">
                <a16:creationId xmlns:a16="http://schemas.microsoft.com/office/drawing/2014/main" id="{11E867DF-3DCA-4725-94F0-F2B6BD747A82}"/>
              </a:ext>
            </a:extLst>
          </p:cNvPr>
          <p:cNvSpPr txBox="1"/>
          <p:nvPr userDrawn="1"/>
        </p:nvSpPr>
        <p:spPr>
          <a:xfrm>
            <a:off x="-9150" y="5213747"/>
            <a:ext cx="8389625" cy="523220"/>
          </a:xfrm>
          <a:prstGeom prst="rect">
            <a:avLst/>
          </a:prstGeom>
          <a:noFill/>
        </p:spPr>
        <p:txBody>
          <a:bodyPr wrap="square" rtlCol="0">
            <a:spAutoFit/>
          </a:bodyPr>
          <a:lstStyle/>
          <a:p>
            <a:r>
              <a:rPr lang="en-US" sz="1400" dirty="0">
                <a:solidFill>
                  <a:schemeClr val="bg1">
                    <a:lumMod val="65000"/>
                  </a:schemeClr>
                </a:solidFill>
              </a:rPr>
              <a:t>This presentation uses a free template provided by FPPT.com</a:t>
            </a:r>
          </a:p>
          <a:p>
            <a:r>
              <a:rPr lang="en-US" sz="1400" dirty="0">
                <a:solidFill>
                  <a:schemeClr val="bg1">
                    <a:lumMod val="65000"/>
                  </a:schemeClr>
                </a:solidFill>
              </a:rPr>
              <a:t>www.free-power-point-templates.com</a:t>
            </a:r>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3.xml"/><Relationship Id="rId4" Type="http://schemas.openxmlformats.org/officeDocument/2006/relationships/image" Target="../media/image14.jpeg"/></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19.jpe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5502" y="247043"/>
            <a:ext cx="8192728" cy="1445337"/>
          </a:xfrm>
        </p:spPr>
        <p:txBody>
          <a:bodyPr>
            <a:normAutofit/>
          </a:bodyPr>
          <a:lstStyle/>
          <a:p>
            <a:r>
              <a:rPr lang="en-US" sz="4000" b="1" dirty="0">
                <a:latin typeface="Cambria" panose="02040503050406030204" pitchFamily="18" charset="0"/>
                <a:ea typeface="Cambria" panose="02040503050406030204" pitchFamily="18" charset="0"/>
              </a:rPr>
              <a:t>GO HOME</a:t>
            </a:r>
          </a:p>
        </p:txBody>
      </p:sp>
      <p:sp>
        <p:nvSpPr>
          <p:cNvPr id="3" name="Subtitle 2"/>
          <p:cNvSpPr>
            <a:spLocks noGrp="1"/>
          </p:cNvSpPr>
          <p:nvPr>
            <p:ph type="subTitle" idx="1"/>
          </p:nvPr>
        </p:nvSpPr>
        <p:spPr>
          <a:xfrm>
            <a:off x="812477" y="2066043"/>
            <a:ext cx="8192728" cy="971327"/>
          </a:xfrm>
        </p:spPr>
        <p:txBody>
          <a:bodyPr>
            <a:normAutofit fontScale="92500" lnSpcReduction="10000"/>
          </a:bodyPr>
          <a:lstStyle/>
          <a:p>
            <a:r>
              <a:rPr lang="en-US" sz="1800" dirty="0">
                <a:solidFill>
                  <a:schemeClr val="bg1"/>
                </a:solidFill>
                <a:latin typeface="Cambria" panose="02040503050406030204" pitchFamily="18" charset="0"/>
                <a:ea typeface="Cambria" panose="02040503050406030204" pitchFamily="18" charset="0"/>
              </a:rPr>
              <a:t>Prepared By : </a:t>
            </a:r>
          </a:p>
          <a:p>
            <a:r>
              <a:rPr lang="en-US" sz="1800" dirty="0">
                <a:solidFill>
                  <a:schemeClr val="bg1"/>
                </a:solidFill>
                <a:latin typeface="Cambria" panose="02040503050406030204" pitchFamily="18" charset="0"/>
                <a:ea typeface="Cambria" panose="02040503050406030204" pitchFamily="18" charset="0"/>
              </a:rPr>
              <a:t>Krisha Desai(196150316008)</a:t>
            </a:r>
          </a:p>
          <a:p>
            <a:r>
              <a:rPr lang="en-US" sz="1800" dirty="0">
                <a:solidFill>
                  <a:schemeClr val="bg1"/>
                </a:solidFill>
                <a:latin typeface="Cambria" panose="02040503050406030204" pitchFamily="18" charset="0"/>
                <a:ea typeface="Cambria" panose="02040503050406030204" pitchFamily="18" charset="0"/>
              </a:rPr>
              <a:t>Hetvi Modi(196150316034)</a:t>
            </a:r>
          </a:p>
        </p:txBody>
      </p:sp>
      <p:sp>
        <p:nvSpPr>
          <p:cNvPr id="4" name="Subtitle 2">
            <a:extLst>
              <a:ext uri="{FF2B5EF4-FFF2-40B4-BE49-F238E27FC236}">
                <a16:creationId xmlns:a16="http://schemas.microsoft.com/office/drawing/2014/main" id="{872E62A0-0E1F-4E58-8C9E-0225EAA47054}"/>
              </a:ext>
            </a:extLst>
          </p:cNvPr>
          <p:cNvSpPr txBox="1">
            <a:spLocks/>
          </p:cNvSpPr>
          <p:nvPr/>
        </p:nvSpPr>
        <p:spPr>
          <a:xfrm>
            <a:off x="652989" y="3205939"/>
            <a:ext cx="8192728" cy="971327"/>
          </a:xfrm>
          <a:prstGeom prst="rect">
            <a:avLst/>
          </a:prstGeom>
        </p:spPr>
        <p:txBody>
          <a:bodyPr vert="horz" lIns="91440" tIns="45720" rIns="91440" bIns="45720" rtlCol="0">
            <a:normAutofit/>
          </a:bodyPr>
          <a:lstStyle>
            <a:lvl1pPr marL="0" indent="0" algn="r" defTabSz="914400" rtl="0" eaLnBrk="1" latinLnBrk="0" hangingPunct="1">
              <a:spcBef>
                <a:spcPct val="20000"/>
              </a:spcBef>
              <a:buFont typeface="Arial" pitchFamily="34" charset="0"/>
              <a:buNone/>
              <a:defRPr sz="2800" b="0" i="0" kern="1200">
                <a:solidFill>
                  <a:srgbClr val="FFFF00"/>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sz="1800" dirty="0">
              <a:solidFill>
                <a:schemeClr val="bg1"/>
              </a:solidFill>
              <a:latin typeface="Cambria" panose="02040503050406030204" pitchFamily="18" charset="0"/>
              <a:ea typeface="Cambria" panose="02040503050406030204" pitchFamily="18" charset="0"/>
            </a:endParaRPr>
          </a:p>
        </p:txBody>
      </p:sp>
      <p:sp>
        <p:nvSpPr>
          <p:cNvPr id="5" name="Subtitle 2">
            <a:extLst>
              <a:ext uri="{FF2B5EF4-FFF2-40B4-BE49-F238E27FC236}">
                <a16:creationId xmlns:a16="http://schemas.microsoft.com/office/drawing/2014/main" id="{4E46072E-E892-48B7-A84C-6EF5382AB4E3}"/>
              </a:ext>
            </a:extLst>
          </p:cNvPr>
          <p:cNvSpPr txBox="1">
            <a:spLocks/>
          </p:cNvSpPr>
          <p:nvPr/>
        </p:nvSpPr>
        <p:spPr>
          <a:xfrm>
            <a:off x="951272" y="4065265"/>
            <a:ext cx="8192728" cy="971327"/>
          </a:xfrm>
          <a:prstGeom prst="rect">
            <a:avLst/>
          </a:prstGeom>
        </p:spPr>
        <p:txBody>
          <a:bodyPr vert="horz" lIns="91440" tIns="45720" rIns="91440" bIns="45720" rtlCol="0">
            <a:normAutofit/>
          </a:bodyPr>
          <a:lstStyle>
            <a:lvl1pPr marL="0" indent="0" algn="r" defTabSz="914400" rtl="0" eaLnBrk="1" latinLnBrk="0" hangingPunct="1">
              <a:spcBef>
                <a:spcPct val="20000"/>
              </a:spcBef>
              <a:buFont typeface="Arial" pitchFamily="34" charset="0"/>
              <a:buNone/>
              <a:defRPr sz="2800" b="0" i="0" kern="1200">
                <a:solidFill>
                  <a:srgbClr val="FFFF00"/>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z="1800" b="1" dirty="0">
                <a:solidFill>
                  <a:schemeClr val="bg1"/>
                </a:solidFill>
                <a:latin typeface="Cambria" panose="02040503050406030204" pitchFamily="18" charset="0"/>
                <a:ea typeface="Cambria" panose="02040503050406030204" pitchFamily="18" charset="0"/>
              </a:rPr>
              <a:t>INFORMATION TECHNOLOGY</a:t>
            </a:r>
          </a:p>
          <a:p>
            <a:endParaRPr lang="en-US" sz="1000" b="1" dirty="0">
              <a:solidFill>
                <a:schemeClr val="bg1"/>
              </a:solidFill>
              <a:latin typeface="Cambria" panose="02040503050406030204" pitchFamily="18" charset="0"/>
              <a:ea typeface="Cambria" panose="02040503050406030204" pitchFamily="18" charset="0"/>
            </a:endParaRPr>
          </a:p>
          <a:p>
            <a:r>
              <a:rPr lang="en-US" sz="1800" b="1" dirty="0">
                <a:solidFill>
                  <a:schemeClr val="bg1"/>
                </a:solidFill>
                <a:latin typeface="Cambria" panose="02040503050406030204" pitchFamily="18" charset="0"/>
                <a:ea typeface="Cambria" panose="02040503050406030204" pitchFamily="18" charset="0"/>
              </a:rPr>
              <a:t>GOVERNMENT POLYTECHINC FOR GIRLS, SURAT</a:t>
            </a:r>
          </a:p>
        </p:txBody>
      </p:sp>
    </p:spTree>
    <p:extLst>
      <p:ext uri="{BB962C8B-B14F-4D97-AF65-F5344CB8AC3E}">
        <p14:creationId xmlns:p14="http://schemas.microsoft.com/office/powerpoint/2010/main" val="363920370"/>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7FA94-B945-4C64-955D-2DC7F09E59E9}"/>
              </a:ext>
            </a:extLst>
          </p:cNvPr>
          <p:cNvSpPr>
            <a:spLocks noGrp="1"/>
          </p:cNvSpPr>
          <p:nvPr>
            <p:ph type="title"/>
          </p:nvPr>
        </p:nvSpPr>
        <p:spPr/>
        <p:txBody>
          <a:bodyPr/>
          <a:lstStyle/>
          <a:p>
            <a:r>
              <a:rPr lang="en-US" b="1" dirty="0">
                <a:latin typeface="Cambria" panose="02040503050406030204" pitchFamily="18" charset="0"/>
                <a:ea typeface="Cambria" panose="02040503050406030204" pitchFamily="18" charset="0"/>
              </a:rPr>
              <a:t>Abstract</a:t>
            </a:r>
            <a:endParaRPr lang="en-IN" b="1" dirty="0">
              <a:latin typeface="Cambria" panose="02040503050406030204" pitchFamily="18" charset="0"/>
              <a:ea typeface="Cambria" panose="02040503050406030204" pitchFamily="18" charset="0"/>
            </a:endParaRPr>
          </a:p>
        </p:txBody>
      </p:sp>
      <p:sp>
        <p:nvSpPr>
          <p:cNvPr id="3" name="Content Placeholder 2">
            <a:extLst>
              <a:ext uri="{FF2B5EF4-FFF2-40B4-BE49-F238E27FC236}">
                <a16:creationId xmlns:a16="http://schemas.microsoft.com/office/drawing/2014/main" id="{3D8CEF9E-79C6-4B68-A4A9-4CC1ED3CD61E}"/>
              </a:ext>
            </a:extLst>
          </p:cNvPr>
          <p:cNvSpPr>
            <a:spLocks noGrp="1"/>
          </p:cNvSpPr>
          <p:nvPr>
            <p:ph idx="1"/>
          </p:nvPr>
        </p:nvSpPr>
        <p:spPr/>
        <p:txBody>
          <a:bodyPr>
            <a:normAutofit/>
          </a:bodyPr>
          <a:lstStyle/>
          <a:p>
            <a:pPr marL="0" indent="0" algn="just">
              <a:buNone/>
            </a:pPr>
            <a:endParaRPr lang="en-US" sz="1400" dirty="0">
              <a:solidFill>
                <a:srgbClr val="00B0F0"/>
              </a:solidFill>
              <a:effectLst/>
              <a:latin typeface="Cambria" panose="02040503050406030204" pitchFamily="18" charset="0"/>
              <a:ea typeface="Calibri" panose="020F0502020204030204" pitchFamily="34" charset="0"/>
              <a:cs typeface="Times New Roman" panose="02020603050405020304" pitchFamily="18" charset="0"/>
            </a:endParaRPr>
          </a:p>
          <a:p>
            <a:pPr marL="0" indent="0" algn="just">
              <a:buNone/>
            </a:pPr>
            <a:r>
              <a:rPr lang="en-US" sz="1400" dirty="0">
                <a:solidFill>
                  <a:srgbClr val="00B0F0"/>
                </a:solidFill>
                <a:effectLst/>
                <a:latin typeface="Cambria" panose="02040503050406030204" pitchFamily="18" charset="0"/>
                <a:ea typeface="Calibri" panose="020F0502020204030204" pitchFamily="34" charset="0"/>
                <a:cs typeface="Times New Roman" panose="02020603050405020304" pitchFamily="18" charset="0"/>
              </a:rPr>
              <a:t>This work demonstrates a simple home automation system that allows the user to control home appliances through Wi-Fi/Bluetooth. Lights, air conditioners and fans are the appliances that can be used in this system. </a:t>
            </a:r>
            <a:r>
              <a:rPr lang="en-US" sz="1400" dirty="0">
                <a:solidFill>
                  <a:srgbClr val="00B0F0"/>
                </a:solidFill>
                <a:latin typeface="Cambria" panose="02040503050406030204" pitchFamily="18" charset="0"/>
                <a:ea typeface="Cambria" panose="02040503050406030204" pitchFamily="18" charset="0"/>
              </a:rPr>
              <a:t>In this system, the controlling and monitoring the appliances can perform by using smartphone based on Android Application. </a:t>
            </a:r>
            <a:r>
              <a:rPr lang="en-US" sz="1400" dirty="0">
                <a:solidFill>
                  <a:srgbClr val="00B0F0"/>
                </a:solidFill>
                <a:effectLst/>
                <a:latin typeface="Cambria" panose="02040503050406030204" pitchFamily="18" charset="0"/>
                <a:ea typeface="Calibri" panose="020F0502020204030204" pitchFamily="34" charset="0"/>
                <a:cs typeface="Times New Roman" panose="02020603050405020304" pitchFamily="18" charset="0"/>
              </a:rPr>
              <a:t>The concept behind this can be to manage home devices with voice. On the market, there are several devices accessible to try and do that. Build your personal assistant which will do the work for you. The idea behind this can be to control home devices with voice. On the market, there is a unit several devices out there to try and do that. However, creating your own is awful. Build your personal assistant that may do the work for you. Simply your assistant needs voice commands. Consistent with voice command home appliances can switch ON/OFF. </a:t>
            </a:r>
            <a:endParaRPr lang="en-IN" sz="14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32845847"/>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1947" y="489808"/>
            <a:ext cx="8459402" cy="763526"/>
          </a:xfrm>
        </p:spPr>
        <p:txBody>
          <a:bodyPr>
            <a:normAutofit/>
          </a:bodyPr>
          <a:lstStyle/>
          <a:p>
            <a:r>
              <a:rPr lang="en-US" b="1" dirty="0">
                <a:latin typeface="Cambria" panose="02040503050406030204" pitchFamily="18" charset="0"/>
                <a:ea typeface="Cambria" panose="02040503050406030204" pitchFamily="18" charset="0"/>
              </a:rPr>
              <a:t>Problem Statement</a:t>
            </a:r>
          </a:p>
        </p:txBody>
      </p:sp>
      <p:sp>
        <p:nvSpPr>
          <p:cNvPr id="3" name="Content Placeholder 2"/>
          <p:cNvSpPr>
            <a:spLocks noGrp="1"/>
          </p:cNvSpPr>
          <p:nvPr>
            <p:ph idx="1"/>
          </p:nvPr>
        </p:nvSpPr>
        <p:spPr/>
        <p:txBody>
          <a:bodyPr/>
          <a:lstStyle/>
          <a:p>
            <a:endParaRPr lang="en-IN" sz="1400" dirty="0">
              <a:solidFill>
                <a:srgbClr val="00B0F0"/>
              </a:solidFill>
              <a:effectLst/>
              <a:latin typeface="Cambria" panose="02040503050406030204" pitchFamily="18" charset="0"/>
              <a:ea typeface="Cambria" panose="02040503050406030204" pitchFamily="18" charset="0"/>
              <a:cs typeface="Times New Roman" panose="02020603050405020304" pitchFamily="18" charset="0"/>
            </a:endParaRPr>
          </a:p>
          <a:p>
            <a:r>
              <a:rPr lang="en-IN" sz="1400" dirty="0">
                <a:solidFill>
                  <a:srgbClr val="00B0F0"/>
                </a:solidFill>
                <a:effectLst/>
                <a:latin typeface="Cambria" panose="02040503050406030204" pitchFamily="18" charset="0"/>
                <a:ea typeface="Cambria" panose="02040503050406030204" pitchFamily="18" charset="0"/>
                <a:cs typeface="Times New Roman" panose="02020603050405020304" pitchFamily="18" charset="0"/>
              </a:rPr>
              <a:t>The field of automation has well advanced in Industries, as majority of automobile industry plants as well as bottling plants have automated assembly lines. But automation has not yet penetrated in the homes especially in India.</a:t>
            </a:r>
          </a:p>
          <a:p>
            <a:r>
              <a:rPr lang="en-IN" sz="1400" dirty="0">
                <a:solidFill>
                  <a:srgbClr val="00B0F0"/>
                </a:solidFill>
                <a:effectLst/>
                <a:latin typeface="Cambria" panose="02040503050406030204" pitchFamily="18" charset="0"/>
                <a:ea typeface="Cambria" panose="02040503050406030204" pitchFamily="18" charset="0"/>
                <a:cs typeface="Times New Roman" panose="02020603050405020304" pitchFamily="18" charset="0"/>
              </a:rPr>
              <a:t>It is difficult for senior citizen and handicapped people to get up for turning on/off appliances.</a:t>
            </a:r>
          </a:p>
          <a:p>
            <a:r>
              <a:rPr lang="en-IN" sz="1400" dirty="0">
                <a:solidFill>
                  <a:srgbClr val="00B0F0"/>
                </a:solidFill>
                <a:latin typeface="Cambria" panose="02040503050406030204" pitchFamily="18" charset="0"/>
                <a:ea typeface="Cambria" panose="02040503050406030204" pitchFamily="18" charset="0"/>
                <a:cs typeface="Times New Roman" panose="02020603050405020304" pitchFamily="18" charset="0"/>
              </a:rPr>
              <a:t>In market there are many devices related to Home Automation, for instance, Alexa &amp; Google Home  which is expensive , So, not everyone can afford it.</a:t>
            </a:r>
          </a:p>
          <a:p>
            <a:pPr marL="0" indent="0">
              <a:buNone/>
            </a:pPr>
            <a:endParaRPr lang="en-US" dirty="0"/>
          </a:p>
          <a:p>
            <a:endParaRPr lang="en-US" dirty="0"/>
          </a:p>
        </p:txBody>
      </p:sp>
    </p:spTree>
    <p:extLst>
      <p:ext uri="{BB962C8B-B14F-4D97-AF65-F5344CB8AC3E}">
        <p14:creationId xmlns:p14="http://schemas.microsoft.com/office/powerpoint/2010/main" val="4103309497"/>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810320" y="450232"/>
            <a:ext cx="6283782" cy="725349"/>
          </a:xfrm>
        </p:spPr>
        <p:txBody>
          <a:bodyPr>
            <a:normAutofit/>
          </a:bodyPr>
          <a:lstStyle/>
          <a:p>
            <a:r>
              <a:rPr lang="en-US" b="1" dirty="0">
                <a:solidFill>
                  <a:schemeClr val="bg1"/>
                </a:solidFill>
                <a:latin typeface="Cambria" panose="02040503050406030204" pitchFamily="18" charset="0"/>
                <a:ea typeface="Cambria" panose="02040503050406030204" pitchFamily="18" charset="0"/>
              </a:rPr>
              <a:t>Who has this Problem?</a:t>
            </a:r>
          </a:p>
        </p:txBody>
      </p:sp>
      <p:pic>
        <p:nvPicPr>
          <p:cNvPr id="27" name="Content Placeholder 26">
            <a:extLst>
              <a:ext uri="{FF2B5EF4-FFF2-40B4-BE49-F238E27FC236}">
                <a16:creationId xmlns:a16="http://schemas.microsoft.com/office/drawing/2014/main" id="{B2C3C0DF-DA2A-4DCA-A49C-D12579531AE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37503" y="1514402"/>
            <a:ext cx="1076804" cy="1159635"/>
          </a:xfrm>
        </p:spPr>
      </p:pic>
      <p:sp>
        <p:nvSpPr>
          <p:cNvPr id="28" name="TextBox 27">
            <a:extLst>
              <a:ext uri="{FF2B5EF4-FFF2-40B4-BE49-F238E27FC236}">
                <a16:creationId xmlns:a16="http://schemas.microsoft.com/office/drawing/2014/main" id="{E5459265-E1EB-4C81-88F0-AC7EB8C3AFCC}"/>
              </a:ext>
            </a:extLst>
          </p:cNvPr>
          <p:cNvSpPr txBox="1"/>
          <p:nvPr/>
        </p:nvSpPr>
        <p:spPr>
          <a:xfrm>
            <a:off x="3714307" y="1909553"/>
            <a:ext cx="3657600" cy="369332"/>
          </a:xfrm>
          <a:prstGeom prst="rect">
            <a:avLst/>
          </a:prstGeom>
          <a:noFill/>
        </p:spPr>
        <p:txBody>
          <a:bodyPr wrap="square" rtlCol="0">
            <a:spAutoFit/>
          </a:bodyPr>
          <a:lstStyle/>
          <a:p>
            <a:r>
              <a:rPr lang="en-US" dirty="0">
                <a:solidFill>
                  <a:schemeClr val="bg1"/>
                </a:solidFill>
              </a:rPr>
              <a:t>Senior Citizens</a:t>
            </a:r>
            <a:endParaRPr lang="en-IN" dirty="0">
              <a:solidFill>
                <a:schemeClr val="bg1"/>
              </a:solidFill>
            </a:endParaRPr>
          </a:p>
        </p:txBody>
      </p:sp>
      <p:pic>
        <p:nvPicPr>
          <p:cNvPr id="32" name="Picture 31">
            <a:extLst>
              <a:ext uri="{FF2B5EF4-FFF2-40B4-BE49-F238E27FC236}">
                <a16:creationId xmlns:a16="http://schemas.microsoft.com/office/drawing/2014/main" id="{50C4AB38-4972-4420-B06A-762D56D3DAF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93539" y="2458078"/>
            <a:ext cx="1076804" cy="1366229"/>
          </a:xfrm>
          <a:prstGeom prst="rect">
            <a:avLst/>
          </a:prstGeom>
        </p:spPr>
      </p:pic>
      <p:sp>
        <p:nvSpPr>
          <p:cNvPr id="33" name="TextBox 32">
            <a:extLst>
              <a:ext uri="{FF2B5EF4-FFF2-40B4-BE49-F238E27FC236}">
                <a16:creationId xmlns:a16="http://schemas.microsoft.com/office/drawing/2014/main" id="{470EC5A9-8B18-472E-BBD1-BE98648806F7}"/>
              </a:ext>
            </a:extLst>
          </p:cNvPr>
          <p:cNvSpPr txBox="1"/>
          <p:nvPr/>
        </p:nvSpPr>
        <p:spPr>
          <a:xfrm>
            <a:off x="3705197" y="2956526"/>
            <a:ext cx="3657600" cy="369332"/>
          </a:xfrm>
          <a:prstGeom prst="rect">
            <a:avLst/>
          </a:prstGeom>
          <a:noFill/>
        </p:spPr>
        <p:txBody>
          <a:bodyPr wrap="square" rtlCol="0">
            <a:spAutoFit/>
          </a:bodyPr>
          <a:lstStyle/>
          <a:p>
            <a:r>
              <a:rPr lang="en-US" dirty="0">
                <a:solidFill>
                  <a:schemeClr val="bg1"/>
                </a:solidFill>
              </a:rPr>
              <a:t>Handicapped</a:t>
            </a:r>
            <a:endParaRPr lang="en-IN" dirty="0">
              <a:solidFill>
                <a:schemeClr val="bg1"/>
              </a:solidFill>
            </a:endParaRPr>
          </a:p>
        </p:txBody>
      </p:sp>
    </p:spTree>
    <p:extLst>
      <p:ext uri="{BB962C8B-B14F-4D97-AF65-F5344CB8AC3E}">
        <p14:creationId xmlns:p14="http://schemas.microsoft.com/office/powerpoint/2010/main" val="1101633878"/>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74789-3057-4E18-96C7-FA1F4953FF64}"/>
              </a:ext>
            </a:extLst>
          </p:cNvPr>
          <p:cNvSpPr>
            <a:spLocks noGrp="1"/>
          </p:cNvSpPr>
          <p:nvPr>
            <p:ph type="title"/>
          </p:nvPr>
        </p:nvSpPr>
        <p:spPr>
          <a:xfrm>
            <a:off x="442451" y="489808"/>
            <a:ext cx="8259098" cy="763526"/>
          </a:xfrm>
        </p:spPr>
        <p:txBody>
          <a:bodyPr/>
          <a:lstStyle/>
          <a:p>
            <a:r>
              <a:rPr lang="en-US" b="1" dirty="0">
                <a:latin typeface="Cambria" panose="02040503050406030204" pitchFamily="18" charset="0"/>
                <a:ea typeface="Cambria" panose="02040503050406030204" pitchFamily="18" charset="0"/>
              </a:rPr>
              <a:t>  How does it work?</a:t>
            </a:r>
            <a:endParaRPr lang="en-IN" b="1" dirty="0">
              <a:latin typeface="Cambria" panose="02040503050406030204" pitchFamily="18" charset="0"/>
              <a:ea typeface="Cambria" panose="02040503050406030204" pitchFamily="18" charset="0"/>
            </a:endParaRPr>
          </a:p>
        </p:txBody>
      </p:sp>
      <p:pic>
        <p:nvPicPr>
          <p:cNvPr id="1026" name="Picture 2" descr="APK File (What It Is and How to Open One)">
            <a:extLst>
              <a:ext uri="{FF2B5EF4-FFF2-40B4-BE49-F238E27FC236}">
                <a16:creationId xmlns:a16="http://schemas.microsoft.com/office/drawing/2014/main" id="{5793ABCF-4FDA-43BE-8116-BA86DE0DF4F7}"/>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56429" y="1797066"/>
            <a:ext cx="1650344" cy="959790"/>
          </a:xfrm>
          <a:prstGeom prst="rect">
            <a:avLst/>
          </a:prstGeom>
          <a:noFill/>
          <a:extLst>
            <a:ext uri="{909E8E84-426E-40DD-AFC4-6F175D3DCCD1}">
              <a14:hiddenFill xmlns:a14="http://schemas.microsoft.com/office/drawing/2010/main">
                <a:solidFill>
                  <a:srgbClr val="FFFFFF"/>
                </a:solidFill>
              </a14:hiddenFill>
            </a:ext>
          </a:extLst>
        </p:spPr>
      </p:pic>
      <p:sp>
        <p:nvSpPr>
          <p:cNvPr id="4" name="Arrow: Right 3">
            <a:extLst>
              <a:ext uri="{FF2B5EF4-FFF2-40B4-BE49-F238E27FC236}">
                <a16:creationId xmlns:a16="http://schemas.microsoft.com/office/drawing/2014/main" id="{829AD7C2-FE32-4E3D-8962-57947BFD08AC}"/>
              </a:ext>
            </a:extLst>
          </p:cNvPr>
          <p:cNvSpPr/>
          <p:nvPr/>
        </p:nvSpPr>
        <p:spPr>
          <a:xfrm flipV="1">
            <a:off x="2183329" y="2152845"/>
            <a:ext cx="737192" cy="308701"/>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pic>
        <p:nvPicPr>
          <p:cNvPr id="1028" name="Picture 4" descr="Household Appliances Cartoon Images, Stock Photos &amp;amp; Vectors | Shutterstock">
            <a:extLst>
              <a:ext uri="{FF2B5EF4-FFF2-40B4-BE49-F238E27FC236}">
                <a16:creationId xmlns:a16="http://schemas.microsoft.com/office/drawing/2014/main" id="{413CA607-607A-4B36-A322-FBB5409F5D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7078" y="1785779"/>
            <a:ext cx="2133601" cy="1144734"/>
          </a:xfrm>
          <a:prstGeom prst="rect">
            <a:avLst/>
          </a:prstGeom>
          <a:noFill/>
          <a:extLst>
            <a:ext uri="{909E8E84-426E-40DD-AFC4-6F175D3DCCD1}">
              <a14:hiddenFill xmlns:a14="http://schemas.microsoft.com/office/drawing/2010/main">
                <a:solidFill>
                  <a:srgbClr val="FFFFFF"/>
                </a:solidFill>
              </a14:hiddenFill>
            </a:ext>
          </a:extLst>
        </p:spPr>
      </p:pic>
      <p:sp>
        <p:nvSpPr>
          <p:cNvPr id="8" name="Arrow: Right 7">
            <a:extLst>
              <a:ext uri="{FF2B5EF4-FFF2-40B4-BE49-F238E27FC236}">
                <a16:creationId xmlns:a16="http://schemas.microsoft.com/office/drawing/2014/main" id="{3D2468A9-E60A-4349-8086-4A7014221D93}"/>
              </a:ext>
            </a:extLst>
          </p:cNvPr>
          <p:cNvSpPr/>
          <p:nvPr/>
        </p:nvSpPr>
        <p:spPr>
          <a:xfrm flipV="1">
            <a:off x="5655716" y="2152845"/>
            <a:ext cx="737192" cy="308701"/>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pic>
        <p:nvPicPr>
          <p:cNvPr id="1032" name="Picture 8" descr="Male Cartoon Character Using Voice Control Stock Vector (Royalty Free)  1146393395">
            <a:extLst>
              <a:ext uri="{FF2B5EF4-FFF2-40B4-BE49-F238E27FC236}">
                <a16:creationId xmlns:a16="http://schemas.microsoft.com/office/drawing/2014/main" id="{C6CC3761-9AAB-4570-9AA7-D2EFF503E61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20950" y="1785779"/>
            <a:ext cx="1011644" cy="119233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Light Bulb Cartoon clipart - Light, Lamp, Yellow, transparent clip art">
            <a:extLst>
              <a:ext uri="{FF2B5EF4-FFF2-40B4-BE49-F238E27FC236}">
                <a16:creationId xmlns:a16="http://schemas.microsoft.com/office/drawing/2014/main" id="{A1070210-80A8-4B7A-A036-BE763D590F3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98881" y="3752820"/>
            <a:ext cx="1319182" cy="1172607"/>
          </a:xfrm>
          <a:prstGeom prst="rect">
            <a:avLst/>
          </a:prstGeom>
          <a:noFill/>
          <a:extLst>
            <a:ext uri="{909E8E84-426E-40DD-AFC4-6F175D3DCCD1}">
              <a14:hiddenFill xmlns:a14="http://schemas.microsoft.com/office/drawing/2010/main">
                <a:solidFill>
                  <a:srgbClr val="FFFFFF"/>
                </a:solidFill>
              </a14:hiddenFill>
            </a:ext>
          </a:extLst>
        </p:spPr>
      </p:pic>
      <p:sp>
        <p:nvSpPr>
          <p:cNvPr id="6" name="Arrow: Down 5">
            <a:extLst>
              <a:ext uri="{FF2B5EF4-FFF2-40B4-BE49-F238E27FC236}">
                <a16:creationId xmlns:a16="http://schemas.microsoft.com/office/drawing/2014/main" id="{3181B529-89A8-4B9B-9F47-E3697C044CD4}"/>
              </a:ext>
            </a:extLst>
          </p:cNvPr>
          <p:cNvSpPr/>
          <p:nvPr/>
        </p:nvSpPr>
        <p:spPr>
          <a:xfrm>
            <a:off x="7052499" y="3084844"/>
            <a:ext cx="311889" cy="596167"/>
          </a:xfrm>
          <a:prstGeom prst="down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pic>
        <p:nvPicPr>
          <p:cNvPr id="1038" name="Picture 14" descr="Smart Air Conditioner High Res Stock Images | Shutterstock">
            <a:extLst>
              <a:ext uri="{FF2B5EF4-FFF2-40B4-BE49-F238E27FC236}">
                <a16:creationId xmlns:a16="http://schemas.microsoft.com/office/drawing/2014/main" id="{03F9F1AA-F48C-4121-BACA-EDC8C0D861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5818" y="3504769"/>
            <a:ext cx="1319182" cy="1420658"/>
          </a:xfrm>
          <a:prstGeom prst="rect">
            <a:avLst/>
          </a:prstGeom>
          <a:noFill/>
          <a:extLst>
            <a:ext uri="{909E8E84-426E-40DD-AFC4-6F175D3DCCD1}">
              <a14:hiddenFill xmlns:a14="http://schemas.microsoft.com/office/drawing/2010/main">
                <a:solidFill>
                  <a:srgbClr val="FFFFFF"/>
                </a:solidFill>
              </a14:hiddenFill>
            </a:ext>
          </a:extLst>
        </p:spPr>
      </p:pic>
      <p:sp>
        <p:nvSpPr>
          <p:cNvPr id="16" name="Arrow: Right 15">
            <a:extLst>
              <a:ext uri="{FF2B5EF4-FFF2-40B4-BE49-F238E27FC236}">
                <a16:creationId xmlns:a16="http://schemas.microsoft.com/office/drawing/2014/main" id="{8910FDB6-7BEB-4148-957A-7DE960C95FA6}"/>
              </a:ext>
            </a:extLst>
          </p:cNvPr>
          <p:cNvSpPr/>
          <p:nvPr/>
        </p:nvSpPr>
        <p:spPr>
          <a:xfrm flipH="1" flipV="1">
            <a:off x="5330679" y="4030422"/>
            <a:ext cx="782461" cy="308701"/>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490745062"/>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2E552F-D9F6-4137-B9AD-9E1D79730449}"/>
              </a:ext>
            </a:extLst>
          </p:cNvPr>
          <p:cNvSpPr>
            <a:spLocks noGrp="1"/>
          </p:cNvSpPr>
          <p:nvPr>
            <p:ph type="title"/>
          </p:nvPr>
        </p:nvSpPr>
        <p:spPr/>
        <p:txBody>
          <a:bodyPr/>
          <a:lstStyle/>
          <a:p>
            <a:r>
              <a:rPr lang="en-US" b="1" dirty="0">
                <a:solidFill>
                  <a:schemeClr val="bg1"/>
                </a:solidFill>
                <a:latin typeface="Cambria" panose="02040503050406030204" pitchFamily="18" charset="0"/>
                <a:ea typeface="Cambria" panose="02040503050406030204" pitchFamily="18" charset="0"/>
              </a:rPr>
              <a:t>Features</a:t>
            </a:r>
            <a:endParaRPr lang="en-IN" b="1" dirty="0">
              <a:solidFill>
                <a:schemeClr val="bg1"/>
              </a:solidFill>
              <a:latin typeface="Cambria" panose="02040503050406030204" pitchFamily="18" charset="0"/>
              <a:ea typeface="Cambria" panose="02040503050406030204" pitchFamily="18" charset="0"/>
            </a:endParaRPr>
          </a:p>
        </p:txBody>
      </p:sp>
      <p:pic>
        <p:nvPicPr>
          <p:cNvPr id="2050" name="Picture 2" descr="Smart home picture feature a man sitting on yellow sofa while controling electric  appliance from phone 1822267 Vector Art at Vecteezy">
            <a:extLst>
              <a:ext uri="{FF2B5EF4-FFF2-40B4-BE49-F238E27FC236}">
                <a16:creationId xmlns:a16="http://schemas.microsoft.com/office/drawing/2014/main" id="{23EF64C9-D7EA-4F85-A1E5-E968075DDD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5417" y="1207530"/>
            <a:ext cx="1163710" cy="116371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75B312E9-36B2-4665-9E18-66A0F84F9AC9}"/>
              </a:ext>
            </a:extLst>
          </p:cNvPr>
          <p:cNvSpPr txBox="1"/>
          <p:nvPr/>
        </p:nvSpPr>
        <p:spPr>
          <a:xfrm>
            <a:off x="3459127" y="1563698"/>
            <a:ext cx="2076893" cy="338554"/>
          </a:xfrm>
          <a:prstGeom prst="rect">
            <a:avLst/>
          </a:prstGeom>
          <a:noFill/>
        </p:spPr>
        <p:txBody>
          <a:bodyPr wrap="square" rtlCol="0">
            <a:spAutoFit/>
          </a:bodyPr>
          <a:lstStyle/>
          <a:p>
            <a:r>
              <a:rPr lang="en-US" sz="1600" dirty="0">
                <a:solidFill>
                  <a:schemeClr val="bg1"/>
                </a:solidFill>
                <a:latin typeface="Cambria" panose="02040503050406030204" pitchFamily="18" charset="0"/>
                <a:ea typeface="Cambria" panose="02040503050406030204" pitchFamily="18" charset="0"/>
              </a:rPr>
              <a:t>On/Off Appliances</a:t>
            </a:r>
            <a:endParaRPr lang="en-IN" sz="1600" dirty="0">
              <a:solidFill>
                <a:schemeClr val="bg1"/>
              </a:solidFill>
              <a:latin typeface="Cambria" panose="02040503050406030204" pitchFamily="18" charset="0"/>
              <a:ea typeface="Cambria" panose="02040503050406030204" pitchFamily="18" charset="0"/>
            </a:endParaRPr>
          </a:p>
        </p:txBody>
      </p:sp>
      <p:pic>
        <p:nvPicPr>
          <p:cNvPr id="2052" name="Picture 4" descr="Cartoon Air Conditioner Images, Stock Photos &amp;amp; Vectors | Shutterstock">
            <a:extLst>
              <a:ext uri="{FF2B5EF4-FFF2-40B4-BE49-F238E27FC236}">
                <a16:creationId xmlns:a16="http://schemas.microsoft.com/office/drawing/2014/main" id="{C72B0933-537E-467B-BD9C-23BC9B5E06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5417" y="2672618"/>
            <a:ext cx="1206021" cy="129879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B5CEF2C-5D7C-42B6-91A0-BD7C822F8600}"/>
              </a:ext>
            </a:extLst>
          </p:cNvPr>
          <p:cNvSpPr txBox="1"/>
          <p:nvPr/>
        </p:nvSpPr>
        <p:spPr>
          <a:xfrm>
            <a:off x="3501438" y="3069404"/>
            <a:ext cx="2686493" cy="338554"/>
          </a:xfrm>
          <a:prstGeom prst="rect">
            <a:avLst/>
          </a:prstGeom>
          <a:noFill/>
        </p:spPr>
        <p:txBody>
          <a:bodyPr wrap="square" rtlCol="0">
            <a:spAutoFit/>
          </a:bodyPr>
          <a:lstStyle/>
          <a:p>
            <a:r>
              <a:rPr lang="en-US" sz="1600" dirty="0">
                <a:solidFill>
                  <a:schemeClr val="bg1"/>
                </a:solidFill>
                <a:latin typeface="Cambria" panose="02040503050406030204" pitchFamily="18" charset="0"/>
                <a:ea typeface="Cambria" panose="02040503050406030204" pitchFamily="18" charset="0"/>
              </a:rPr>
              <a:t>AC/Fan Control</a:t>
            </a:r>
          </a:p>
        </p:txBody>
      </p:sp>
      <p:pic>
        <p:nvPicPr>
          <p:cNvPr id="2056" name="Picture 8" descr="Can you trust that person on the phone? These clues may give them away |  Science | AAAS">
            <a:extLst>
              <a:ext uri="{FF2B5EF4-FFF2-40B4-BE49-F238E27FC236}">
                <a16:creationId xmlns:a16="http://schemas.microsoft.com/office/drawing/2014/main" id="{2ED082F3-7982-4493-9C8F-61EE513C3F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33997" y="1286520"/>
            <a:ext cx="1795945" cy="1005729"/>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43F32AF3-8812-45C0-8BAB-1517CA594D85}"/>
              </a:ext>
            </a:extLst>
          </p:cNvPr>
          <p:cNvSpPr txBox="1"/>
          <p:nvPr/>
        </p:nvSpPr>
        <p:spPr>
          <a:xfrm>
            <a:off x="7329942" y="1563698"/>
            <a:ext cx="1687530" cy="338554"/>
          </a:xfrm>
          <a:prstGeom prst="rect">
            <a:avLst/>
          </a:prstGeom>
          <a:noFill/>
        </p:spPr>
        <p:txBody>
          <a:bodyPr wrap="square" rtlCol="0">
            <a:spAutoFit/>
          </a:bodyPr>
          <a:lstStyle/>
          <a:p>
            <a:r>
              <a:rPr lang="en-US" sz="1600" dirty="0">
                <a:solidFill>
                  <a:schemeClr val="bg1"/>
                </a:solidFill>
                <a:latin typeface="Cambria" panose="02040503050406030204" pitchFamily="18" charset="0"/>
                <a:ea typeface="Cambria" panose="02040503050406030204" pitchFamily="18" charset="0"/>
              </a:rPr>
              <a:t>Voice Over</a:t>
            </a:r>
            <a:endParaRPr lang="en-IN" sz="1400"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940088229"/>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FE647-FE5A-494C-9AFF-BEEC6FFA09F8}"/>
              </a:ext>
            </a:extLst>
          </p:cNvPr>
          <p:cNvSpPr>
            <a:spLocks noGrp="1"/>
          </p:cNvSpPr>
          <p:nvPr>
            <p:ph type="title"/>
          </p:nvPr>
        </p:nvSpPr>
        <p:spPr/>
        <p:txBody>
          <a:bodyPr/>
          <a:lstStyle/>
          <a:p>
            <a:r>
              <a:rPr lang="en-US" b="1" dirty="0">
                <a:latin typeface="Cambria" panose="02040503050406030204" pitchFamily="18" charset="0"/>
                <a:ea typeface="Cambria" panose="02040503050406030204" pitchFamily="18" charset="0"/>
              </a:rPr>
              <a:t>Use Case Diagram</a:t>
            </a:r>
            <a:endParaRPr lang="en-IN" b="1" dirty="0">
              <a:latin typeface="Cambria" panose="02040503050406030204" pitchFamily="18" charset="0"/>
              <a:ea typeface="Cambria" panose="02040503050406030204" pitchFamily="18" charset="0"/>
            </a:endParaRPr>
          </a:p>
        </p:txBody>
      </p:sp>
      <p:pic>
        <p:nvPicPr>
          <p:cNvPr id="10" name="Content Placeholder 9">
            <a:extLst>
              <a:ext uri="{FF2B5EF4-FFF2-40B4-BE49-F238E27FC236}">
                <a16:creationId xmlns:a16="http://schemas.microsoft.com/office/drawing/2014/main" id="{03A9EE12-6D96-4933-8151-6D80BFB1E57A}"/>
              </a:ext>
            </a:extLst>
          </p:cNvPr>
          <p:cNvPicPr>
            <a:picLocks noGrp="1" noChangeAspect="1"/>
          </p:cNvPicPr>
          <p:nvPr>
            <p:ph idx="1"/>
          </p:nvPr>
        </p:nvPicPr>
        <p:blipFill>
          <a:blip r:embed="rId2"/>
          <a:stretch>
            <a:fillRect/>
          </a:stretch>
        </p:blipFill>
        <p:spPr>
          <a:xfrm>
            <a:off x="2610962" y="1519238"/>
            <a:ext cx="3950651" cy="3259137"/>
          </a:xfrm>
        </p:spPr>
      </p:pic>
    </p:spTree>
    <p:extLst>
      <p:ext uri="{BB962C8B-B14F-4D97-AF65-F5344CB8AC3E}">
        <p14:creationId xmlns:p14="http://schemas.microsoft.com/office/powerpoint/2010/main" val="656522831"/>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5545E-D902-4D82-B314-DEAFFAD4E11F}"/>
              </a:ext>
            </a:extLst>
          </p:cNvPr>
          <p:cNvSpPr>
            <a:spLocks noGrp="1"/>
          </p:cNvSpPr>
          <p:nvPr>
            <p:ph type="title"/>
          </p:nvPr>
        </p:nvSpPr>
        <p:spPr/>
        <p:txBody>
          <a:bodyPr/>
          <a:lstStyle/>
          <a:p>
            <a:r>
              <a:rPr lang="en-US" b="1" dirty="0">
                <a:latin typeface="Cambria" panose="02040503050406030204" pitchFamily="18" charset="0"/>
                <a:ea typeface="Cambria" panose="02040503050406030204" pitchFamily="18" charset="0"/>
              </a:rPr>
              <a:t>Activity Diagram</a:t>
            </a:r>
            <a:endParaRPr lang="en-IN" b="1" dirty="0">
              <a:latin typeface="Cambria" panose="02040503050406030204" pitchFamily="18" charset="0"/>
              <a:ea typeface="Cambria" panose="02040503050406030204" pitchFamily="18" charset="0"/>
            </a:endParaRPr>
          </a:p>
        </p:txBody>
      </p:sp>
      <p:pic>
        <p:nvPicPr>
          <p:cNvPr id="7" name="Content Placeholder 6">
            <a:extLst>
              <a:ext uri="{FF2B5EF4-FFF2-40B4-BE49-F238E27FC236}">
                <a16:creationId xmlns:a16="http://schemas.microsoft.com/office/drawing/2014/main" id="{507754DB-0297-4EA1-8BA4-F1A1482F7483}"/>
              </a:ext>
            </a:extLst>
          </p:cNvPr>
          <p:cNvPicPr>
            <a:picLocks noGrp="1" noChangeAspect="1"/>
          </p:cNvPicPr>
          <p:nvPr>
            <p:ph idx="1"/>
          </p:nvPr>
        </p:nvPicPr>
        <p:blipFill>
          <a:blip r:embed="rId2"/>
          <a:stretch>
            <a:fillRect/>
          </a:stretch>
        </p:blipFill>
        <p:spPr>
          <a:xfrm>
            <a:off x="2352783" y="1519238"/>
            <a:ext cx="4467009" cy="3259137"/>
          </a:xfrm>
        </p:spPr>
      </p:pic>
    </p:spTree>
    <p:extLst>
      <p:ext uri="{BB962C8B-B14F-4D97-AF65-F5344CB8AC3E}">
        <p14:creationId xmlns:p14="http://schemas.microsoft.com/office/powerpoint/2010/main" val="711520884"/>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EFB0EC7-6223-4B93-B9BF-58CB2BEC4AF7}"/>
              </a:ext>
            </a:extLst>
          </p:cNvPr>
          <p:cNvSpPr>
            <a:spLocks noGrp="1"/>
          </p:cNvSpPr>
          <p:nvPr>
            <p:ph type="title"/>
          </p:nvPr>
        </p:nvSpPr>
        <p:spPr/>
        <p:txBody>
          <a:bodyPr>
            <a:noAutofit/>
          </a:bodyPr>
          <a:lstStyle/>
          <a:p>
            <a:r>
              <a:rPr lang="en-IN" sz="2400" b="1" dirty="0">
                <a:solidFill>
                  <a:schemeClr val="bg1"/>
                </a:solidFill>
                <a:latin typeface="Cambria" panose="02040503050406030204" pitchFamily="18" charset="0"/>
                <a:ea typeface="Cambria" panose="02040503050406030204" pitchFamily="18" charset="0"/>
                <a:cs typeface="Arial" pitchFamily="34" charset="0"/>
              </a:rPr>
              <a:t>How our proposed solution is different from existing solution available in market?</a:t>
            </a:r>
            <a:endParaRPr lang="en-IN" sz="2400" dirty="0">
              <a:solidFill>
                <a:schemeClr val="bg1"/>
              </a:solidFill>
              <a:latin typeface="Cambria" panose="02040503050406030204" pitchFamily="18" charset="0"/>
              <a:ea typeface="Cambria" panose="02040503050406030204" pitchFamily="18" charset="0"/>
            </a:endParaRPr>
          </a:p>
        </p:txBody>
      </p:sp>
      <p:sp>
        <p:nvSpPr>
          <p:cNvPr id="6" name="Content Placeholder 5">
            <a:extLst>
              <a:ext uri="{FF2B5EF4-FFF2-40B4-BE49-F238E27FC236}">
                <a16:creationId xmlns:a16="http://schemas.microsoft.com/office/drawing/2014/main" id="{060B16E7-590E-46B8-8632-06BA1A5D2A8F}"/>
              </a:ext>
            </a:extLst>
          </p:cNvPr>
          <p:cNvSpPr>
            <a:spLocks noGrp="1"/>
          </p:cNvSpPr>
          <p:nvPr>
            <p:ph idx="1"/>
          </p:nvPr>
        </p:nvSpPr>
        <p:spPr>
          <a:xfrm>
            <a:off x="2392106" y="1268361"/>
            <a:ext cx="6304935" cy="3420136"/>
          </a:xfrm>
        </p:spPr>
        <p:txBody>
          <a:bodyPr>
            <a:normAutofit/>
          </a:bodyPr>
          <a:lstStyle/>
          <a:p>
            <a:r>
              <a:rPr lang="en-US" sz="1800" dirty="0">
                <a:latin typeface="Cambria" panose="02040503050406030204" pitchFamily="18" charset="0"/>
                <a:ea typeface="Cambria" panose="02040503050406030204" pitchFamily="18" charset="0"/>
              </a:rPr>
              <a:t>There are lots of application available in market related to this but this application provides some special and extra functionality which are this : -</a:t>
            </a:r>
          </a:p>
          <a:p>
            <a:pPr marL="0" indent="0">
              <a:buNone/>
            </a:pPr>
            <a:endParaRPr lang="en-IN" sz="1800" dirty="0">
              <a:latin typeface="Cambria" panose="02040503050406030204" pitchFamily="18" charset="0"/>
              <a:ea typeface="Cambria" panose="02040503050406030204" pitchFamily="18" charset="0"/>
            </a:endParaRPr>
          </a:p>
        </p:txBody>
      </p:sp>
      <p:pic>
        <p:nvPicPr>
          <p:cNvPr id="2052" name="Picture 4" descr="How to Become a Voice Actor for Animation and Cartoon | Voices">
            <a:extLst>
              <a:ext uri="{FF2B5EF4-FFF2-40B4-BE49-F238E27FC236}">
                <a16:creationId xmlns:a16="http://schemas.microsoft.com/office/drawing/2014/main" id="{670CA045-D24C-47FB-9309-33389130276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65134" y="2340801"/>
            <a:ext cx="1289203" cy="70010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F9F97CF-E7A6-4417-9C39-0660FF79C3E2}"/>
              </a:ext>
            </a:extLst>
          </p:cNvPr>
          <p:cNvSpPr txBox="1"/>
          <p:nvPr/>
        </p:nvSpPr>
        <p:spPr>
          <a:xfrm>
            <a:off x="4054337" y="2503013"/>
            <a:ext cx="1616148" cy="338554"/>
          </a:xfrm>
          <a:prstGeom prst="rect">
            <a:avLst/>
          </a:prstGeom>
          <a:noFill/>
        </p:spPr>
        <p:txBody>
          <a:bodyPr wrap="square" rtlCol="0">
            <a:spAutoFit/>
          </a:bodyPr>
          <a:lstStyle/>
          <a:p>
            <a:r>
              <a:rPr lang="en-US" sz="1600" b="1" dirty="0">
                <a:solidFill>
                  <a:schemeClr val="bg1"/>
                </a:solidFill>
                <a:latin typeface="Cambria" panose="02040503050406030204" pitchFamily="18" charset="0"/>
                <a:ea typeface="Cambria" panose="02040503050406030204" pitchFamily="18" charset="0"/>
              </a:rPr>
              <a:t>Voice Over</a:t>
            </a:r>
            <a:endParaRPr lang="en-IN" sz="1600" b="1" dirty="0">
              <a:solidFill>
                <a:schemeClr val="bg1"/>
              </a:solidFill>
              <a:latin typeface="Cambria" panose="02040503050406030204" pitchFamily="18" charset="0"/>
              <a:ea typeface="Cambria" panose="02040503050406030204" pitchFamily="18" charset="0"/>
            </a:endParaRPr>
          </a:p>
        </p:txBody>
      </p:sp>
      <p:pic>
        <p:nvPicPr>
          <p:cNvPr id="2054" name="Picture 6" descr="Low Price Icon">
            <a:extLst>
              <a:ext uri="{FF2B5EF4-FFF2-40B4-BE49-F238E27FC236}">
                <a16:creationId xmlns:a16="http://schemas.microsoft.com/office/drawing/2014/main" id="{A6FEF010-A9CF-42F9-8A76-7547325D87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6365" y="3225010"/>
            <a:ext cx="1034446" cy="1034446"/>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0221E03D-2F15-4667-B3F8-BF189FB0F2BE}"/>
              </a:ext>
            </a:extLst>
          </p:cNvPr>
          <p:cNvSpPr txBox="1"/>
          <p:nvPr/>
        </p:nvSpPr>
        <p:spPr>
          <a:xfrm>
            <a:off x="4104170" y="3499455"/>
            <a:ext cx="1616148" cy="338554"/>
          </a:xfrm>
          <a:prstGeom prst="rect">
            <a:avLst/>
          </a:prstGeom>
          <a:noFill/>
        </p:spPr>
        <p:txBody>
          <a:bodyPr wrap="square" rtlCol="0">
            <a:spAutoFit/>
          </a:bodyPr>
          <a:lstStyle/>
          <a:p>
            <a:r>
              <a:rPr lang="en-US" sz="1600" b="1" dirty="0">
                <a:solidFill>
                  <a:schemeClr val="bg1"/>
                </a:solidFill>
                <a:latin typeface="Cambria" panose="02040503050406030204" pitchFamily="18" charset="0"/>
                <a:ea typeface="Cambria" panose="02040503050406030204" pitchFamily="18" charset="0"/>
              </a:rPr>
              <a:t>Low Cost</a:t>
            </a:r>
            <a:endParaRPr lang="en-IN" sz="1600" b="1" dirty="0">
              <a:solidFill>
                <a:schemeClr val="bg1"/>
              </a:solidFill>
              <a:latin typeface="Cambria" panose="02040503050406030204" pitchFamily="18" charset="0"/>
              <a:ea typeface="Cambria" panose="02040503050406030204" pitchFamily="18" charset="0"/>
            </a:endParaRPr>
          </a:p>
        </p:txBody>
      </p:sp>
      <p:pic>
        <p:nvPicPr>
          <p:cNvPr id="2056" name="Picture 8" descr="Appliance Brands - Who owns who? - Fred&amp;#39;s Appliance Academy">
            <a:extLst>
              <a:ext uri="{FF2B5EF4-FFF2-40B4-BE49-F238E27FC236}">
                <a16:creationId xmlns:a16="http://schemas.microsoft.com/office/drawing/2014/main" id="{A2EDFB9A-9D83-4175-8A0B-4664F86B8F2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43540" y="2340801"/>
            <a:ext cx="1616148" cy="90908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C04EAEC-53B0-4248-8463-D9B741830EF7}"/>
              </a:ext>
            </a:extLst>
          </p:cNvPr>
          <p:cNvSpPr txBox="1"/>
          <p:nvPr/>
        </p:nvSpPr>
        <p:spPr>
          <a:xfrm>
            <a:off x="6914553" y="2301680"/>
            <a:ext cx="2155516" cy="584775"/>
          </a:xfrm>
          <a:prstGeom prst="rect">
            <a:avLst/>
          </a:prstGeom>
          <a:noFill/>
        </p:spPr>
        <p:txBody>
          <a:bodyPr wrap="square" rtlCol="0">
            <a:spAutoFit/>
          </a:bodyPr>
          <a:lstStyle/>
          <a:p>
            <a:r>
              <a:rPr lang="en-US" sz="1600" b="1" dirty="0">
                <a:solidFill>
                  <a:schemeClr val="bg1"/>
                </a:solidFill>
                <a:latin typeface="Cambria" panose="02040503050406030204" pitchFamily="18" charset="0"/>
                <a:ea typeface="Cambria" panose="02040503050406030204" pitchFamily="18" charset="0"/>
              </a:rPr>
              <a:t>Can Connect to every company Appliance</a:t>
            </a:r>
            <a:endParaRPr lang="en-IN" sz="1600" b="1"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9100692"/>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ABC7A-4582-4366-9885-BF1C07C1F697}"/>
              </a:ext>
            </a:extLst>
          </p:cNvPr>
          <p:cNvSpPr>
            <a:spLocks noGrp="1"/>
          </p:cNvSpPr>
          <p:nvPr>
            <p:ph type="title"/>
          </p:nvPr>
        </p:nvSpPr>
        <p:spPr/>
        <p:txBody>
          <a:bodyPr/>
          <a:lstStyle/>
          <a:p>
            <a:r>
              <a:rPr lang="en-US" b="1" dirty="0">
                <a:solidFill>
                  <a:schemeClr val="bg1"/>
                </a:solidFill>
                <a:latin typeface="Cambria" panose="02040503050406030204" pitchFamily="18" charset="0"/>
                <a:ea typeface="Cambria" panose="02040503050406030204" pitchFamily="18" charset="0"/>
              </a:rPr>
              <a:t>Competitor Analysis</a:t>
            </a:r>
            <a:endParaRPr lang="en-IN" b="1" dirty="0">
              <a:solidFill>
                <a:schemeClr val="bg1"/>
              </a:solidFill>
              <a:latin typeface="Cambria" panose="02040503050406030204" pitchFamily="18" charset="0"/>
              <a:ea typeface="Cambria" panose="02040503050406030204" pitchFamily="18" charset="0"/>
            </a:endParaRPr>
          </a:p>
        </p:txBody>
      </p:sp>
      <p:sp>
        <p:nvSpPr>
          <p:cNvPr id="3" name="Content Placeholder 2">
            <a:extLst>
              <a:ext uri="{FF2B5EF4-FFF2-40B4-BE49-F238E27FC236}">
                <a16:creationId xmlns:a16="http://schemas.microsoft.com/office/drawing/2014/main" id="{D8018758-4171-40C4-9590-9610FD91082A}"/>
              </a:ext>
            </a:extLst>
          </p:cNvPr>
          <p:cNvSpPr>
            <a:spLocks noGrp="1"/>
          </p:cNvSpPr>
          <p:nvPr>
            <p:ph idx="1"/>
          </p:nvPr>
        </p:nvSpPr>
        <p:spPr/>
        <p:txBody>
          <a:bodyPr>
            <a:normAutofit/>
          </a:bodyPr>
          <a:lstStyle/>
          <a:p>
            <a:pPr marL="0" indent="0" algn="ctr">
              <a:buNone/>
            </a:pPr>
            <a:r>
              <a:rPr lang="en-US" sz="1800" b="1" u="sng" dirty="0">
                <a:latin typeface="Cambria" panose="02040503050406030204" pitchFamily="18" charset="0"/>
                <a:ea typeface="Cambria" panose="02040503050406030204" pitchFamily="18" charset="0"/>
              </a:rPr>
              <a:t>Name of competitor</a:t>
            </a:r>
          </a:p>
          <a:p>
            <a:pPr marL="0" indent="0" algn="ctr">
              <a:buNone/>
            </a:pPr>
            <a:endParaRPr lang="en-US" sz="1800" b="1" u="sng" dirty="0">
              <a:latin typeface="Cambria" panose="02040503050406030204" pitchFamily="18" charset="0"/>
              <a:ea typeface="Cambria" panose="02040503050406030204" pitchFamily="18" charset="0"/>
            </a:endParaRPr>
          </a:p>
          <a:p>
            <a:pPr marL="0" indent="0" algn="ctr">
              <a:buNone/>
            </a:pPr>
            <a:endParaRPr lang="en-US" sz="500" b="1" u="sng" dirty="0">
              <a:latin typeface="Cambria" panose="02040503050406030204" pitchFamily="18" charset="0"/>
              <a:ea typeface="Cambria" panose="02040503050406030204" pitchFamily="18" charset="0"/>
            </a:endParaRPr>
          </a:p>
          <a:p>
            <a:pPr marL="0" indent="0">
              <a:buNone/>
            </a:pPr>
            <a:r>
              <a:rPr lang="en-US" sz="1600" b="1" dirty="0">
                <a:effectLst/>
                <a:latin typeface="Cambria" panose="02040503050406030204" pitchFamily="18" charset="0"/>
                <a:ea typeface="Cambria" panose="02040503050406030204" pitchFamily="18" charset="0"/>
                <a:cs typeface="Times New Roman" panose="02020603050405020304" pitchFamily="18" charset="0"/>
              </a:rPr>
              <a:t>  	</a:t>
            </a:r>
            <a:endParaRPr lang="en-IN" sz="1600" dirty="0">
              <a:effectLst/>
              <a:latin typeface="Cambria" panose="02040503050406030204" pitchFamily="18" charset="0"/>
              <a:ea typeface="Cambria" panose="02040503050406030204" pitchFamily="18" charset="0"/>
              <a:cs typeface="Times New Roman" panose="02020603050405020304" pitchFamily="18" charset="0"/>
            </a:endParaRPr>
          </a:p>
        </p:txBody>
      </p:sp>
      <p:pic>
        <p:nvPicPr>
          <p:cNvPr id="6" name="Picture 2" descr="SmartThings - Apps on Google Play">
            <a:extLst>
              <a:ext uri="{FF2B5EF4-FFF2-40B4-BE49-F238E27FC236}">
                <a16:creationId xmlns:a16="http://schemas.microsoft.com/office/drawing/2014/main" id="{74D60C17-A496-484A-9721-E5D037A2685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06688" y="1870306"/>
            <a:ext cx="431934" cy="43193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i Remote controller - for TV, STB, AC and more - Apps on Google Play">
            <a:extLst>
              <a:ext uri="{FF2B5EF4-FFF2-40B4-BE49-F238E27FC236}">
                <a16:creationId xmlns:a16="http://schemas.microsoft.com/office/drawing/2014/main" id="{469D5AC7-418A-498B-A902-8E2924F99A1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V="1">
            <a:off x="2906689" y="2684496"/>
            <a:ext cx="431933" cy="43193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FCB5432-CFB0-4679-BD03-0B9CCE3DC974}"/>
              </a:ext>
            </a:extLst>
          </p:cNvPr>
          <p:cNvSpPr txBox="1"/>
          <p:nvPr/>
        </p:nvSpPr>
        <p:spPr>
          <a:xfrm>
            <a:off x="3296090" y="2731185"/>
            <a:ext cx="2317900" cy="338554"/>
          </a:xfrm>
          <a:prstGeom prst="rect">
            <a:avLst/>
          </a:prstGeom>
          <a:noFill/>
        </p:spPr>
        <p:txBody>
          <a:bodyPr wrap="square" rtlCol="0">
            <a:spAutoFit/>
          </a:bodyPr>
          <a:lstStyle/>
          <a:p>
            <a:r>
              <a:rPr lang="en-US" sz="1600" b="1" dirty="0">
                <a:solidFill>
                  <a:schemeClr val="bg1"/>
                </a:solidFill>
                <a:latin typeface="Cambria" panose="02040503050406030204" pitchFamily="18" charset="0"/>
                <a:ea typeface="Cambria" panose="02040503050406030204" pitchFamily="18" charset="0"/>
              </a:rPr>
              <a:t>Mi Remote Control</a:t>
            </a:r>
            <a:endParaRPr lang="en-IN" sz="1600" b="1" dirty="0">
              <a:solidFill>
                <a:schemeClr val="bg1"/>
              </a:solidFill>
              <a:latin typeface="Cambria" panose="02040503050406030204" pitchFamily="18" charset="0"/>
              <a:ea typeface="Cambria" panose="02040503050406030204" pitchFamily="18" charset="0"/>
            </a:endParaRPr>
          </a:p>
        </p:txBody>
      </p:sp>
      <p:pic>
        <p:nvPicPr>
          <p:cNvPr id="1034" name="Picture 10" descr="Philips Hue - Apps on Google Play">
            <a:extLst>
              <a:ext uri="{FF2B5EF4-FFF2-40B4-BE49-F238E27FC236}">
                <a16:creationId xmlns:a16="http://schemas.microsoft.com/office/drawing/2014/main" id="{ED3DD956-603E-487B-AA4B-41AE6C4610F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06688" y="3596732"/>
            <a:ext cx="431933" cy="43193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EA92DFF-107B-410A-A318-6C4484C26838}"/>
              </a:ext>
            </a:extLst>
          </p:cNvPr>
          <p:cNvSpPr txBox="1"/>
          <p:nvPr/>
        </p:nvSpPr>
        <p:spPr>
          <a:xfrm>
            <a:off x="3281910" y="3643421"/>
            <a:ext cx="1842977" cy="338554"/>
          </a:xfrm>
          <a:prstGeom prst="rect">
            <a:avLst/>
          </a:prstGeom>
          <a:noFill/>
        </p:spPr>
        <p:txBody>
          <a:bodyPr wrap="square" rtlCol="0">
            <a:spAutoFit/>
          </a:bodyPr>
          <a:lstStyle/>
          <a:p>
            <a:r>
              <a:rPr lang="en-US" sz="1600" b="1" dirty="0">
                <a:solidFill>
                  <a:schemeClr val="bg1"/>
                </a:solidFill>
                <a:latin typeface="Cambria" panose="02040503050406030204" pitchFamily="18" charset="0"/>
                <a:ea typeface="Cambria" panose="02040503050406030204" pitchFamily="18" charset="0"/>
              </a:rPr>
              <a:t>Philips Hue</a:t>
            </a:r>
            <a:endParaRPr lang="en-IN" sz="1600" b="1" dirty="0">
              <a:solidFill>
                <a:schemeClr val="bg1"/>
              </a:solidFill>
              <a:latin typeface="Cambria" panose="02040503050406030204" pitchFamily="18" charset="0"/>
              <a:ea typeface="Cambria" panose="02040503050406030204" pitchFamily="18" charset="0"/>
            </a:endParaRPr>
          </a:p>
        </p:txBody>
      </p:sp>
      <p:sp>
        <p:nvSpPr>
          <p:cNvPr id="8" name="TextBox 7">
            <a:extLst>
              <a:ext uri="{FF2B5EF4-FFF2-40B4-BE49-F238E27FC236}">
                <a16:creationId xmlns:a16="http://schemas.microsoft.com/office/drawing/2014/main" id="{44C11303-7219-49E9-B1F2-4867F0159F71}"/>
              </a:ext>
            </a:extLst>
          </p:cNvPr>
          <p:cNvSpPr txBox="1"/>
          <p:nvPr/>
        </p:nvSpPr>
        <p:spPr>
          <a:xfrm>
            <a:off x="3296090" y="1883146"/>
            <a:ext cx="3104712" cy="338554"/>
          </a:xfrm>
          <a:prstGeom prst="rect">
            <a:avLst/>
          </a:prstGeom>
          <a:noFill/>
        </p:spPr>
        <p:txBody>
          <a:bodyPr wrap="square" rtlCol="0">
            <a:spAutoFit/>
          </a:bodyPr>
          <a:lstStyle/>
          <a:p>
            <a:r>
              <a:rPr lang="en-US" sz="1600" b="1">
                <a:solidFill>
                  <a:schemeClr val="bg1"/>
                </a:solidFill>
                <a:latin typeface="Cambria" panose="02040503050406030204" pitchFamily="18" charset="0"/>
                <a:ea typeface="Cambria" panose="02040503050406030204" pitchFamily="18" charset="0"/>
              </a:rPr>
              <a:t>Smart </a:t>
            </a:r>
            <a:r>
              <a:rPr lang="en-US" sz="1600" b="1" dirty="0">
                <a:solidFill>
                  <a:schemeClr val="bg1"/>
                </a:solidFill>
                <a:latin typeface="Cambria" panose="02040503050406030204" pitchFamily="18" charset="0"/>
                <a:ea typeface="Cambria" panose="02040503050406030204" pitchFamily="18" charset="0"/>
              </a:rPr>
              <a:t>Things</a:t>
            </a:r>
            <a:endParaRPr lang="en-IN" sz="1600" b="1"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57019562"/>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F37264B-AF24-4E27-AFB3-53354708CCBA}"/>
              </a:ext>
            </a:extLst>
          </p:cNvPr>
          <p:cNvSpPr>
            <a:spLocks noGrp="1"/>
          </p:cNvSpPr>
          <p:nvPr>
            <p:ph type="title"/>
          </p:nvPr>
        </p:nvSpPr>
        <p:spPr/>
        <p:txBody>
          <a:bodyPr>
            <a:noAutofit/>
          </a:bodyPr>
          <a:lstStyle/>
          <a:p>
            <a:r>
              <a:rPr lang="en-IN" sz="2800" b="1" dirty="0">
                <a:solidFill>
                  <a:schemeClr val="bg1"/>
                </a:solidFill>
                <a:latin typeface="Cambria" panose="02040503050406030204" pitchFamily="18" charset="0"/>
                <a:ea typeface="Cambria" panose="02040503050406030204" pitchFamily="18" charset="0"/>
                <a:cs typeface="Arial" pitchFamily="34" charset="0"/>
              </a:rPr>
              <a:t>Conclusion</a:t>
            </a:r>
            <a:endParaRPr lang="en-IN" sz="2800" dirty="0">
              <a:solidFill>
                <a:schemeClr val="bg1"/>
              </a:solidFill>
              <a:latin typeface="Cambria" panose="02040503050406030204" pitchFamily="18" charset="0"/>
              <a:ea typeface="Cambria" panose="02040503050406030204" pitchFamily="18" charset="0"/>
            </a:endParaRPr>
          </a:p>
        </p:txBody>
      </p:sp>
      <p:sp>
        <p:nvSpPr>
          <p:cNvPr id="6" name="Content Placeholder 5">
            <a:extLst>
              <a:ext uri="{FF2B5EF4-FFF2-40B4-BE49-F238E27FC236}">
                <a16:creationId xmlns:a16="http://schemas.microsoft.com/office/drawing/2014/main" id="{6F0E3BB0-98AA-4212-98FF-E07CED087FC3}"/>
              </a:ext>
            </a:extLst>
          </p:cNvPr>
          <p:cNvSpPr>
            <a:spLocks noGrp="1"/>
          </p:cNvSpPr>
          <p:nvPr>
            <p:ph idx="1"/>
          </p:nvPr>
        </p:nvSpPr>
        <p:spPr/>
        <p:txBody>
          <a:bodyPr>
            <a:normAutofit/>
          </a:bodyPr>
          <a:lstStyle/>
          <a:p>
            <a:pPr marL="0" indent="0">
              <a:buNone/>
            </a:pPr>
            <a:r>
              <a:rPr lang="en-US" sz="1400" dirty="0"/>
              <a:t>The system as the name indicates, ‘Home automation’ makes the system more flexible and provides attractive user interface compared to other home automation systems. In this system we integrate mobile devices into home automation systems. A novel architecture for a home automation system is proposed using the relatively new communication technologies. We hide the complexity of the notions involved in the home automation system by including them into a simple, but comprehensive set of related concepts. This simplification is needed to fit as much of the functionality on the limited space offered by a mobile device’s </a:t>
            </a:r>
            <a:r>
              <a:rPr lang="en-US" sz="1400" dirty="0" err="1"/>
              <a:t>display.Finally</a:t>
            </a:r>
            <a:r>
              <a:rPr lang="en-US" sz="1400" dirty="0"/>
              <a:t>, the proposed system is better from the scalability and flexibility point of view than the commercially available home automation systems.</a:t>
            </a:r>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953345414"/>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F2B28B-3D31-499B-966A-62B22DE2D8CF}"/>
              </a:ext>
            </a:extLst>
          </p:cNvPr>
          <p:cNvSpPr>
            <a:spLocks noGrp="1"/>
          </p:cNvSpPr>
          <p:nvPr>
            <p:ph idx="1"/>
          </p:nvPr>
        </p:nvSpPr>
        <p:spPr/>
        <p:txBody>
          <a:bodyPr/>
          <a:lstStyle/>
          <a:p>
            <a:pPr marL="0" indent="0">
              <a:buNone/>
            </a:pPr>
            <a:endParaRPr lang="en-US" dirty="0">
              <a:latin typeface="Cambria" panose="02040503050406030204" pitchFamily="18" charset="0"/>
              <a:ea typeface="Cambria" panose="02040503050406030204" pitchFamily="18" charset="0"/>
            </a:endParaRPr>
          </a:p>
          <a:p>
            <a:pPr marL="0" indent="0">
              <a:buNone/>
            </a:pPr>
            <a:endParaRPr lang="en-IN" sz="1000" dirty="0">
              <a:latin typeface="Cambria" panose="02040503050406030204" pitchFamily="18" charset="0"/>
              <a:ea typeface="Cambria" panose="02040503050406030204" pitchFamily="18" charset="0"/>
            </a:endParaRPr>
          </a:p>
          <a:p>
            <a:pPr marL="0" indent="0" algn="ctr">
              <a:buNone/>
            </a:pPr>
            <a:r>
              <a:rPr lang="en-IN" sz="4800" b="1" dirty="0">
                <a:latin typeface="Cambria" panose="02040503050406030204" pitchFamily="18" charset="0"/>
                <a:ea typeface="Cambria" panose="02040503050406030204" pitchFamily="18" charset="0"/>
              </a:rPr>
              <a:t>Thank You</a:t>
            </a:r>
          </a:p>
        </p:txBody>
      </p:sp>
    </p:spTree>
    <p:extLst>
      <p:ext uri="{BB962C8B-B14F-4D97-AF65-F5344CB8AC3E}">
        <p14:creationId xmlns:p14="http://schemas.microsoft.com/office/powerpoint/2010/main" val="3455605832"/>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508</Words>
  <Application>Microsoft Office PowerPoint</Application>
  <PresentationFormat>On-screen Show (16:9)</PresentationFormat>
  <Paragraphs>45</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GO HOME</vt:lpstr>
      <vt:lpstr>Abstract</vt:lpstr>
      <vt:lpstr>Problem Statement</vt:lpstr>
      <vt:lpstr>Who has this Problem?</vt:lpstr>
      <vt:lpstr>  How does it work?</vt:lpstr>
      <vt:lpstr>Features</vt:lpstr>
      <vt:lpstr>Use Case Diagram</vt:lpstr>
      <vt:lpstr>Activity Diagram</vt:lpstr>
      <vt:lpstr>How our proposed solution is different from existing solution available in market?</vt:lpstr>
      <vt:lpstr>Competitor Analysis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2017-08-01T15:40:51Z</dcterms:created>
  <dcterms:modified xsi:type="dcterms:W3CDTF">2021-09-27T08:31:13Z</dcterms:modified>
</cp:coreProperties>
</file>